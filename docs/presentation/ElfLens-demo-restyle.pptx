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4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ElfLens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跨平台远程 ELF 二进制调试器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A Cross-Platform Remote GDB Debugger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软件构造原理 (C#) · 课程期末项目  ·  v0.1.0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4846320"/>
            <a:ext cx="1371600" cy="384048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81C784"/>
                </a:solidFill>
                <a:latin typeface="微软雅黑" panose="020B0503020204020204" charset="-122"/>
              </a:defRPr>
            </a:pPr>
            <a:r>
              <a:t>C#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846320"/>
            <a:ext cx="1371600" cy="384048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.NET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846320"/>
            <a:ext cx="1371600" cy="384048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E93D8"/>
                </a:solidFill>
                <a:latin typeface="微软雅黑" panose="020B0503020204020204" charset="-122"/>
              </a:defRPr>
            </a:pPr>
            <a:r>
              <a:t>Avalonia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846320"/>
            <a:ext cx="1371600" cy="384048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FFE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E082"/>
                </a:solidFill>
                <a:latin typeface="微软雅黑" panose="020B0503020204020204" charset="-122"/>
              </a:defRPr>
            </a:pPr>
            <a:r>
              <a:t>SSH.NET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846320"/>
            <a:ext cx="1371600" cy="384048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B74D"/>
                </a:solidFill>
                <a:latin typeface="微软雅黑" panose="020B0503020204020204" charset="-122"/>
              </a:defRPr>
            </a:pPr>
            <a:r>
              <a:t>MVVM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4846320"/>
            <a:ext cx="1371600" cy="384048"/>
          </a:xfrm>
          <a:prstGeom prst="roundRect">
            <a:avLst/>
          </a:prstGeom>
          <a:solidFill>
            <a:srgbClr val="2A2A3E"/>
          </a:solidFill>
          <a:ln w="12700">
            <a:solidFill>
              <a:srgbClr val="9090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GPL v3.0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illustager &lt;illustager@outlook.com&gt;  ·  2026.06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663440" cy="25292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一句话描述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ElfLens 是一个跨平台 GDB 图形化调试前端，通过 SSH 连接远程 Linux 主机，为二进制分析提供</a:t>
            </a:r>
            <a:r>
              <a:rPr sz="1600" b="1">
                <a:latin typeface="+mn-lt"/>
                <a:cs typeface="+mn-lt"/>
              </a:rPr>
              <a:t>一体化可视化</a:t>
            </a:r>
            <a:r>
              <a:rPr sz="1600">
                <a:latin typeface="+mn-lt"/>
                <a:cs typeface="+mn-lt"/>
              </a:rPr>
              <a:t>工作区。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目标用户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• 二进制逆向分析师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• CTF 竞赛选手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• 漏洞安全研究者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• 嵌入式系统开发者</a:t>
            </a:r>
            <a:endParaRPr>
              <a:latin typeface="+mn-lt"/>
              <a:cs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212080" cy="27432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4846320" cy="2032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核心特色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▸ 远程调试：SSH 连接远程 Linux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▸ 多面板工作区：4 区域停靠布局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▸ 语法高亮：自定义 Token 渲染管道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▸ 端到端调试：断点管理 -&gt; 单步调试 -&gt; 寄存器/栈分析全流程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246888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32720" cy="20961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项目速览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项目类型：软件构造原理 (C#) 课程期末项目（单人开发）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代码规模：约 30 个源文件，~4000 行 C# 代码，2 个 .NET 项目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技术选型：.NET 10 + Avalonia UI + CommunityToolkit.Mvvm + SSH.NET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开源协议：GNU General Public License v3.0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开发周期：2026 年 6 月，Git 提交记录约 75 次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67840"/>
            <a:ext cx="5029200" cy="3678555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59280"/>
            <a:ext cx="46634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客户端技术栈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16480"/>
            <a:ext cx="182880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r">
              <a:defRPr sz="1300" b="1">
                <a:solidFill>
                  <a:srgbClr val="CE93D8"/>
                </a:solidFill>
                <a:latin typeface="Cascadia Code" panose="020B0609020000020004"/>
              </a:defRPr>
            </a:pPr>
            <a:r>
              <a:t>UI 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316480"/>
            <a:ext cx="283464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l">
              <a:defRPr sz="1200">
                <a:solidFill>
                  <a:srgbClr val="81C784"/>
                </a:solidFill>
                <a:latin typeface="Cascadia Code" panose="020B0609020000020004"/>
              </a:defRPr>
            </a:pPr>
            <a:r>
              <a:t>Avalonia UI 12.0.4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37104"/>
            <a:ext cx="182880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r">
              <a:defRPr sz="1300" b="1">
                <a:solidFill>
                  <a:srgbClr val="CE93D8"/>
                </a:solidFill>
                <a:latin typeface="Cascadia Code" panose="020B0609020000020004"/>
              </a:defRPr>
            </a:pPr>
            <a:r>
              <a:t>UI 主题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737104"/>
            <a:ext cx="283464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l">
              <a:defRPr sz="1200">
                <a:solidFill>
                  <a:srgbClr val="81C784"/>
                </a:solidFill>
                <a:latin typeface="Cascadia Code" panose="020B0609020000020004"/>
              </a:defRPr>
            </a:pPr>
            <a:r>
              <a:t>Fluent Dark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57728"/>
            <a:ext cx="182880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r">
              <a:defRPr sz="1300" b="1">
                <a:solidFill>
                  <a:srgbClr val="CE93D8"/>
                </a:solidFill>
                <a:latin typeface="Cascadia Code" panose="020B0609020000020004"/>
              </a:defRPr>
            </a:pPr>
            <a:r>
              <a:t>MVVM 框架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3157728"/>
            <a:ext cx="283464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l">
              <a:defRPr sz="1200">
                <a:solidFill>
                  <a:srgbClr val="81C784"/>
                </a:solidFill>
                <a:latin typeface="Cascadia Code" panose="020B0609020000020004"/>
              </a:defRPr>
            </a:pPr>
            <a:r>
              <a:t>CommunityToolkit.Mvvm 8.4.2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78352"/>
            <a:ext cx="182880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r">
              <a:defRPr sz="1300" b="1">
                <a:solidFill>
                  <a:srgbClr val="CE93D8"/>
                </a:solidFill>
                <a:latin typeface="Cascadia Code" panose="020B0609020000020004"/>
              </a:defRPr>
            </a:pPr>
            <a:r>
              <a:t>SSH 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578352"/>
            <a:ext cx="283464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l">
              <a:defRPr sz="1200">
                <a:solidFill>
                  <a:srgbClr val="81C784"/>
                </a:solidFill>
                <a:latin typeface="Cascadia Code" panose="020B0609020000020004"/>
              </a:defRPr>
            </a:pPr>
            <a:r>
              <a:t>SSH.NET 2025.1.0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98976"/>
            <a:ext cx="182880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r">
              <a:defRPr sz="1300" b="1">
                <a:solidFill>
                  <a:srgbClr val="CE93D8"/>
                </a:solidFill>
                <a:latin typeface="Cascadia Code" panose="020B0609020000020004"/>
              </a:defRPr>
            </a:pPr>
            <a:r>
              <a:t>运行时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998976"/>
            <a:ext cx="283464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l">
              <a:defRPr sz="1200">
                <a:solidFill>
                  <a:srgbClr val="81C784"/>
                </a:solidFill>
                <a:latin typeface="Cascadia Code" panose="020B0609020000020004"/>
              </a:defRPr>
            </a:pPr>
            <a:r>
              <a:t>.NET 10.0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768088"/>
            <a:ext cx="182880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r">
              <a:defRPr sz="1300" b="1">
                <a:solidFill>
                  <a:srgbClr val="CE93D8"/>
                </a:solidFill>
                <a:latin typeface="Cascadia Code" panose="020B0609020000020004"/>
              </a:defRPr>
            </a:pPr>
            <a:r>
              <a:t>字体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768088"/>
            <a:ext cx="283464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l">
              <a:defRPr sz="1200">
                <a:solidFill>
                  <a:srgbClr val="81C784"/>
                </a:solidFill>
                <a:latin typeface="Cascadia Code" panose="020B0609020000020004"/>
              </a:defRPr>
            </a:pPr>
            <a:r>
              <a:t>Cascadia Code / Inter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97280"/>
            <a:ext cx="5212080" cy="21945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188720"/>
            <a:ext cx="4846320" cy="1798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远程主机依赖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GDB — GNU Debugger - 调试核心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GNU Binutils — objdump / readelf - 静态分析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file — 文件类型识别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pwndbg — 增强栈可视化 (可选)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checksec — 安全属性检查 (可选)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17920" y="3566160"/>
            <a:ext cx="5212080" cy="27432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4846320" cy="2560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项目结构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ElfLens.slnx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81C784"/>
                </a:solidFill>
                <a:latin typeface="Cascadia Code" panose="020B0609020000020004"/>
              </a:defRPr>
            </a:pPr>
            <a:r>
              <a:t>├── src/ElfLens/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│   └── *.axaml + *.axaml.cs  (10 Views)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4FC3F7"/>
                </a:solidFill>
                <a:latin typeface="Cascadia Code" panose="020B0609020000020004"/>
              </a:defRPr>
            </a:pPr>
            <a:r>
              <a:t>├── src/ElfLens.Core/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│   ├── ViewModels/  (11 VMs)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│   ├── Services/    (2 services)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│   └── Models/      (2 models)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└── docs/  ·  tests/  ·  release/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3 / 12</a:t>
            </a:r>
          </a:p>
        </p:txBody>
      </p:sp>
      <p:sp>
        <p:nvSpPr>
          <p:cNvPr id="16" name="Rectangle 15"/>
          <p:cNvSpPr/>
          <p:nvPr>
            <p:custDataLst>
              <p:tags r:id="rId1"/>
            </p:custDataLst>
          </p:nvPr>
        </p:nvSpPr>
        <p:spPr>
          <a:xfrm>
            <a:off x="914400" y="4383405"/>
            <a:ext cx="182880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r">
              <a:defRPr sz="1300" b="1">
                <a:solidFill>
                  <a:srgbClr val="CE93D8"/>
                </a:solidFill>
                <a:latin typeface="Cascadia Code" panose="020B0609020000020004"/>
              </a:defRPr>
            </a:pPr>
            <a:r>
              <a:t>语言</a:t>
            </a:r>
          </a:p>
        </p:txBody>
      </p:sp>
      <p:sp>
        <p:nvSpPr>
          <p:cNvPr id="17" name="Rectangle 16"/>
          <p:cNvSpPr/>
          <p:nvPr>
            <p:custDataLst>
              <p:tags r:id="rId2"/>
            </p:custDataLst>
          </p:nvPr>
        </p:nvSpPr>
        <p:spPr>
          <a:xfrm>
            <a:off x="2743200" y="4383405"/>
            <a:ext cx="2834640" cy="384048"/>
          </a:xfrm>
          <a:prstGeom prst="rect">
            <a:avLst/>
          </a:prstGeom>
          <a:solidFill>
            <a:srgbClr val="1E1E2E"/>
          </a:solidFill>
          <a:ln w="6350"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l">
              <a:defRPr sz="1200">
                <a:solidFill>
                  <a:srgbClr val="81C784"/>
                </a:solidFill>
                <a:latin typeface="Cascadia Code" panose="020B0609020000020004"/>
              </a:defRPr>
            </a:pPr>
            <a:r>
              <a:t>C# (record, partial, GeneratedRegex)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6400800" cy="5633085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85216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分层架构 (Layered Architecture)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09090"/>
            <a:ext cx="5852160" cy="224155"/>
          </a:xfrm>
          <a:prstGeom prst="roundRect">
            <a:avLst/>
          </a:prstGeom>
          <a:solidFill>
            <a:srgbClr val="81C78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E0E0E0"/>
                </a:solidFill>
                <a:latin typeface="Cascadia Code" panose="020B0609020000020004"/>
              </a:defRPr>
            </a:pPr>
            <a:r>
              <a:t>Presentation Layer  (ElfLens)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40687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Avalonia Views (.axaml) · Data 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6719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Converters · ViewLocator · Dark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52751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10 个用户控件视图 + 1 个主窗口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38755"/>
            <a:ext cx="5852160" cy="232410"/>
          </a:xfrm>
          <a:prstGeom prst="roundRect">
            <a:avLst/>
          </a:prstGeom>
          <a:solidFill>
            <a:srgbClr val="4FC3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E0E0E0"/>
                </a:solidFill>
                <a:latin typeface="Cascadia Code" panose="020B0609020000020004"/>
              </a:defRPr>
            </a:pPr>
            <a:r>
              <a:t>ViewModel Layer  (ElfLens.Core)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833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MainViewModel - 应用编排中心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64865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PanelViewModel 体系 - 7 个可停靠面板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20897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CommunityToolkit.Mvvm 源码生成器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76929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[ObservableProperty] + [RelayCommand]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76725"/>
            <a:ext cx="5852160" cy="240030"/>
          </a:xfrm>
          <a:prstGeom prst="roundRect">
            <a:avLst/>
          </a:prstGeom>
          <a:solidFill>
            <a:srgbClr val="CE93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E0E0E0"/>
                </a:solidFill>
                <a:latin typeface="Cascadia Code" panose="020B0609020000020004"/>
              </a:defRPr>
            </a:pPr>
            <a:r>
              <a:t>Service Layer  (ElfLens.Core)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17796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ISshService 接口 -&gt; SshService 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973828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SSH.NET 封装：连接 / 命令 / Shell 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29860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异步模式 (Task.Run + Async/Await)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558790"/>
            <a:ext cx="5852160" cy="273050"/>
          </a:xfrm>
          <a:prstGeom prst="roundRect">
            <a:avLst/>
          </a:prstGeom>
          <a:solidFill>
            <a:srgbClr val="FFE08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>
              <a:defRPr sz="1200" b="1">
                <a:solidFill>
                  <a:srgbClr val="1E1E2E"/>
                </a:solidFill>
                <a:latin typeface="Cascadia Code" panose="020B0609020000020004"/>
              </a:defRPr>
            </a:pPr>
            <a:r>
              <a:t>Model Layer  (ElfLens.Core)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98337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ShellSession - SSH Shell 流包装器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6254369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SshConnectionInfo - 连接参数 DTO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510401"/>
            <a:ext cx="5303520" cy="256032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Display Types: Token, HighlightedLine, FunctionItem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097280"/>
            <a:ext cx="4023360" cy="256032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1188720"/>
            <a:ext cx="3657600" cy="2377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MVVM 数据流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View (.axaml)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  ↕  Data Binding (Compiled)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4FC3F7"/>
                </a:solidFill>
                <a:latin typeface="Cascadia Code" panose="020B0609020000020004"/>
              </a:defRPr>
            </a:pPr>
            <a:r>
              <a:t>ViewModel (ElfLens.Core)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  ↕  Method Calls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400" b="1">
                <a:solidFill>
                  <a:srgbClr val="FFE082"/>
                </a:solidFill>
                <a:latin typeface="Cascadia Code" panose="020B0609020000020004"/>
              </a:defRPr>
            </a:pPr>
            <a:r>
              <a:t>Model / Service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600" b="0">
                <a:solidFill>
                  <a:srgbClr val="E0E0E0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300" b="0">
                <a:solidFill>
                  <a:srgbClr val="9090AB"/>
                </a:solidFill>
                <a:latin typeface="Cascadia Code" panose="020B0609020000020004"/>
              </a:defRPr>
            </a:pPr>
            <a:r>
              <a:t>ViewLocator: XxxViewModel -&gt; XxxView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3931920"/>
            <a:ext cx="4023360" cy="2803525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023360"/>
            <a:ext cx="3657600" cy="242189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事件驱动协调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B74D"/>
                </a:solidFill>
                <a:latin typeface="Cascadia Code" panose="020B0609020000020004"/>
              </a:defRPr>
            </a:pPr>
            <a:r>
              <a:t>SessionChanged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</a:t>
            </a:r>
            <a:r>
              <a:rPr>
                <a:latin typeface="+mn-lt"/>
                <a:cs typeface="+mn-lt"/>
              </a:rPr>
              <a:t>GDB 会话 -&gt; 所有依赖面板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B74D"/>
                </a:solidFill>
                <a:latin typeface="Cascadia Code" panose="020B0609020000020004"/>
              </a:defRPr>
            </a:pPr>
            <a:r>
              <a:t>BreakpointRequested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</a:t>
            </a:r>
            <a:r>
              <a:rPr>
                <a:latin typeface="+mn-lt"/>
                <a:cs typeface="+mn-lt"/>
              </a:rPr>
              <a:t>右键菜单 -&gt; 断点面板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B74D"/>
                </a:solidFill>
                <a:latin typeface="Cascadia Code" panose="020B0609020000020004"/>
              </a:defRPr>
            </a:pPr>
            <a:r>
              <a:t>BlocksChanged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</a:t>
            </a:r>
            <a:r>
              <a:rPr>
                <a:latin typeface="+mn-lt"/>
                <a:cs typeface="+mn-lt"/>
              </a:rPr>
              <a:t>新函数块 -&gt; 重新标记断点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B74D"/>
                </a:solidFill>
                <a:latin typeface="Cascadia Code" panose="020B0609020000020004"/>
              </a:defRPr>
            </a:pPr>
            <a:r>
              <a:t>OnChanged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</a:t>
            </a:r>
            <a:r>
              <a:rPr>
                <a:latin typeface="+mn-lt"/>
                <a:cs typeface="+mn-lt"/>
              </a:rPr>
              <a:t>断点变更 -&gt; 反汇编视图更新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FFB74D"/>
                </a:solidFill>
                <a:latin typeface="Cascadia Code" panose="020B0609020000020004"/>
              </a:defRPr>
            </a:pPr>
            <a:r>
              <a:t>NavigateTo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</a:t>
            </a:r>
            <a:r>
              <a:rPr>
                <a:latin typeface="+mn-lt"/>
                <a:cs typeface="+mn-lt"/>
              </a:rPr>
              <a:t>点击引用 -&gt; 滚动定位</a:t>
            </a:r>
            <a:endParaRPr>
              <a:latin typeface="+mn-lt"/>
              <a:cs typeface="+mn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核心功能模块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520440" cy="26060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3246120" cy="14497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1C784"/>
                </a:solidFill>
                <a:latin typeface="微软雅黑" panose="020B0503020204020204" charset="-122"/>
              </a:defRPr>
            </a:pPr>
            <a:r>
              <a:t>SSH 远程连接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1C784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支持密码 / 私钥认证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SSH.NET 封装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异步连接与 Shell 流管理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26280" y="1097280"/>
            <a:ext cx="3520440" cy="26060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188720"/>
            <a:ext cx="3246120" cy="14497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E93D8"/>
                </a:solidFill>
                <a:latin typeface="微软雅黑" panose="020B0503020204020204" charset="-122"/>
              </a:defRPr>
            </a:pPr>
            <a:r>
              <a:t>ELF 文件分析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E93D8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file / readelf / checksec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ELF 头、段表、节表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安全属性 (NX/RELRO/PIE/Canary)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21040" y="1097280"/>
            <a:ext cx="3520440" cy="26060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188720"/>
            <a:ext cx="3246120" cy="14497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静态反汇编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objdump -d 解析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折叠式函数视图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点击导航函数引用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520440" cy="26060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3246120" cy="14497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F5350"/>
                </a:solidFill>
                <a:latin typeface="微软雅黑" panose="020B0503020204020204" charset="-122"/>
              </a:defRPr>
            </a:pPr>
            <a:r>
              <a:t>交互式 GDB 调试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F5350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Step In / Step Over / Continue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实时反汇编 (disassemble /r)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当前 PC 自动高亮与展开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26280" y="3886200"/>
            <a:ext cx="3520440" cy="26060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977639"/>
            <a:ext cx="3246120" cy="14497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B74D"/>
                </a:solidFill>
                <a:latin typeface="微软雅黑" panose="020B0503020204020204" charset="-122"/>
              </a:defRPr>
            </a:pPr>
            <a:r>
              <a:t>断点管理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B74D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按函数名 / 地址添加断点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启用 / 禁用 / 删除 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反汇编视图断点标记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321040" y="3886200"/>
            <a:ext cx="3520440" cy="26060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977639"/>
            <a:ext cx="3246120" cy="14497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E082"/>
                </a:solidFill>
                <a:latin typeface="微软雅黑" panose="020B0503020204020204" charset="-122"/>
              </a:defRPr>
            </a:pPr>
            <a:r>
              <a:t>寄存器 &amp; 调用栈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E082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info registers 寄存器展示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bt 回溯 + info frame</a:t>
            </a:r>
            <a:endParaRPr sz="16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 sz="1600">
                <a:latin typeface="+mn-lt"/>
                <a:cs typeface="+mn-lt"/>
              </a:rPr>
              <a:t>• pwndbg/x 栈内存转储</a:t>
            </a:r>
            <a:endParaRPr sz="1600">
              <a:latin typeface="+mn-lt"/>
              <a:cs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工作区布局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560320" cy="32918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2588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Left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286000" cy="1234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2103120" cy="65468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1C784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Registers</a:t>
            </a:r>
            <a:endParaRPr sz="1800">
              <a:latin typeface="+mn-lt"/>
              <a:cs typeface="+mn-lt"/>
            </a:endParaRPr>
          </a:p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81C784"/>
                </a:solidFill>
                <a:latin typeface="微软雅黑" panose="020B0503020204020204" charset="-122"/>
              </a:defRPr>
            </a:pPr>
            <a:br>
              <a:rPr sz="1800">
                <a:latin typeface="+mn-lt"/>
                <a:cs typeface="+mn-lt"/>
              </a:rPr>
            </a:br>
            <a:r>
              <a:rPr sz="1800">
                <a:latin typeface="+mn-lt"/>
                <a:cs typeface="+mn-lt"/>
              </a:rPr>
              <a:t>寄存器面板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3200400"/>
            <a:ext cx="2286000" cy="1234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2103120" cy="65468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Stack</a:t>
            </a:r>
            <a:endParaRPr sz="1800">
              <a:latin typeface="+mn-lt"/>
              <a:cs typeface="+mn-lt"/>
            </a:endParaRPr>
          </a:p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FC3F7"/>
                </a:solidFill>
                <a:latin typeface="微软雅黑" panose="020B0503020204020204" charset="-122"/>
              </a:defRPr>
            </a:pPr>
            <a:br>
              <a:rPr sz="1800">
                <a:latin typeface="+mn-lt"/>
                <a:cs typeface="+mn-lt"/>
              </a:rPr>
            </a:br>
            <a:r>
              <a:rPr sz="1800">
                <a:latin typeface="+mn-lt"/>
                <a:cs typeface="+mn-lt"/>
              </a:rPr>
              <a:t>调用栈面板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66160" y="1280160"/>
            <a:ext cx="5029200" cy="32918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325880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Center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1783080"/>
            <a:ext cx="4754880" cy="1234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011680"/>
            <a:ext cx="4572000" cy="238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Disassembly - 静态反汇编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703320" y="3200400"/>
            <a:ext cx="4754880" cy="1234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429000"/>
            <a:ext cx="4572000" cy="238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F5350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GDB Disasm - 交互式调试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778240" y="1280160"/>
            <a:ext cx="2651760" cy="32918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325880"/>
            <a:ext cx="2377440" cy="3200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Right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783080"/>
            <a:ext cx="2377440" cy="1234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011680"/>
            <a:ext cx="219456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E93D8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File Info</a:t>
            </a:r>
            <a:endParaRPr sz="1800">
              <a:latin typeface="+mn-lt"/>
              <a:cs typeface="+mn-lt"/>
            </a:endParaRPr>
          </a:p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E93D8"/>
                </a:solidFill>
                <a:latin typeface="微软雅黑" panose="020B0503020204020204" charset="-122"/>
              </a:defRPr>
            </a:pPr>
            <a:br>
              <a:rPr sz="1800">
                <a:latin typeface="+mn-lt"/>
                <a:cs typeface="+mn-lt"/>
              </a:rPr>
            </a:br>
            <a:r>
              <a:rPr sz="1800">
                <a:latin typeface="+mn-lt"/>
                <a:cs typeface="+mn-lt"/>
              </a:rPr>
              <a:t>ELF 文件信息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15400" y="3200400"/>
            <a:ext cx="2377440" cy="123444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429000"/>
            <a:ext cx="2194560" cy="619125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B74D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Breakpoints</a:t>
            </a:r>
            <a:endParaRPr sz="1800">
              <a:latin typeface="+mn-lt"/>
              <a:cs typeface="+mn-lt"/>
            </a:endParaRPr>
          </a:p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B74D"/>
                </a:solidFill>
                <a:latin typeface="微软雅黑" panose="020B0503020204020204" charset="-122"/>
              </a:defRPr>
            </a:pPr>
            <a:endParaRPr sz="1800">
              <a:latin typeface="+mn-lt"/>
              <a:cs typeface="+mn-lt"/>
            </a:endParaRPr>
          </a:p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B74D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断点管理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31520" y="4846320"/>
            <a:ext cx="10698480" cy="178308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10424160" cy="3200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Bottom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49240"/>
            <a:ext cx="5029200" cy="109728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532120"/>
            <a:ext cx="484632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1C784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SSH Shell</a:t>
            </a:r>
            <a:endParaRPr sz="1800">
              <a:latin typeface="+mn-lt"/>
              <a:cs typeface="+mn-lt"/>
            </a:endParaRPr>
          </a:p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1C784"/>
                </a:solidFill>
                <a:latin typeface="微软雅黑" panose="020B0503020204020204" charset="-122"/>
              </a:defRPr>
            </a:pPr>
            <a:br>
              <a:rPr sz="1800">
                <a:latin typeface="+mn-lt"/>
                <a:cs typeface="+mn-lt"/>
              </a:rPr>
            </a:br>
            <a:r>
              <a:rPr sz="1800">
                <a:latin typeface="+mn-lt"/>
                <a:cs typeface="+mn-lt"/>
              </a:rPr>
              <a:t>通用 SSH 终端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80760" y="5349240"/>
            <a:ext cx="5029200" cy="109728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5532120"/>
            <a:ext cx="4846320" cy="6083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F5350"/>
                </a:solidFill>
                <a:latin typeface="微软雅黑" panose="020B0503020204020204" charset="-122"/>
              </a:defRPr>
            </a:pPr>
            <a:r>
              <a:rPr sz="1800">
                <a:latin typeface="+mn-lt"/>
                <a:cs typeface="+mn-lt"/>
              </a:rPr>
              <a:t>GDB Shell</a:t>
            </a:r>
            <a:endParaRPr sz="1800">
              <a:latin typeface="+mn-lt"/>
              <a:cs typeface="+mn-lt"/>
            </a:endParaRPr>
          </a:p>
          <a:p>
            <a:pPr algn="ctr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EF5350"/>
                </a:solidFill>
                <a:latin typeface="微软雅黑" panose="020B0503020204020204" charset="-122"/>
              </a:defRPr>
            </a:pPr>
            <a:br>
              <a:rPr sz="1800">
                <a:latin typeface="+mn-lt"/>
                <a:cs typeface="+mn-lt"/>
              </a:rPr>
            </a:br>
            <a:r>
              <a:rPr sz="1800">
                <a:latin typeface="+mn-lt"/>
                <a:cs typeface="+mn-lt"/>
              </a:rPr>
              <a:t>GDB 交互终端</a:t>
            </a:r>
            <a:endParaRPr sz="1800">
              <a:latin typeface="+mn-lt"/>
              <a:cs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反汇编与语法高亮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6400800" cy="27940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6035040" cy="239331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自定义 Token 渲染管道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E0E0E0"/>
                </a:solidFill>
                <a:latin typeface="Cascadia Code" panose="020B0609020000020004"/>
              </a:defRPr>
            </a:pPr>
            <a:r>
              <a:t>原始工具输出 -&gt; Tokenize(正则解析) -&gt; List&lt;Token&gt; -&gt; ItemsControl 渲染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400" b="0">
                <a:solidFill>
                  <a:srgbClr val="E0E0E0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1. objdump / GDB 输出原始文本行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2. DisassemblyHighlighter.Tokenize() 正则解析为 Token 列表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3. 每个 Token = (Text, Color, NavigateTo?)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4. UI 通过 ItemsControl 水平排列彩色 TextBlock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5. 点击可导航 Token 触发 NavigateToFunction 事件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097280"/>
            <a:ext cx="4023360" cy="27940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188720"/>
            <a:ext cx="36576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配色方案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8249920" y="1645920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address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9301480" y="1664208"/>
            <a:ext cx="201168" cy="192024"/>
          </a:xfrm>
          <a:prstGeom prst="rect">
            <a:avLst/>
          </a:prstGeom>
          <a:solidFill>
            <a:srgbClr val="54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21520" y="1645920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546E7A"/>
                </a:solidFill>
                <a:latin typeface="Cascadia Code" panose="020B0609020000020004"/>
              </a:defRPr>
            </a:pPr>
            <a:r>
              <a:t>#546E7A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49920" y="1911096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1480" y="1929384"/>
            <a:ext cx="201168" cy="192024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21520" y="1911096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81C784"/>
                </a:solidFill>
                <a:latin typeface="Cascadia Code" panose="020B0609020000020004"/>
              </a:defRPr>
            </a:pPr>
            <a:r>
              <a:t>#81C784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9920" y="2176272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ret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1480" y="2194560"/>
            <a:ext cx="201168" cy="192024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1520" y="2176272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EF5350"/>
                </a:solidFill>
                <a:latin typeface="Cascadia Code" panose="020B0609020000020004"/>
              </a:defRPr>
            </a:pPr>
            <a:r>
              <a:t>#EF5350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49920" y="2441448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branch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01480" y="2459736"/>
            <a:ext cx="201168" cy="192024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21520" y="2441448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FFB74D"/>
                </a:solidFill>
                <a:latin typeface="Cascadia Code" panose="020B0609020000020004"/>
              </a:defRPr>
            </a:pPr>
            <a:r>
              <a:t>#FFB74D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9920" y="2706624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register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01480" y="2724912"/>
            <a:ext cx="201168" cy="192024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21520" y="2706624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CE93D8"/>
                </a:solidFill>
                <a:latin typeface="Cascadia Code" panose="020B0609020000020004"/>
              </a:defRPr>
            </a:pPr>
            <a:r>
              <a:t>#CE93D8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9920" y="2971800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hex 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1480" y="2990088"/>
            <a:ext cx="201168" cy="192024"/>
          </a:xfrm>
          <a:prstGeom prst="rect">
            <a:avLst/>
          </a:prstGeom>
          <a:solidFill>
            <a:srgbClr val="FFE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21520" y="2971800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FFE082"/>
                </a:solidFill>
                <a:latin typeface="Cascadia Code" panose="020B0609020000020004"/>
              </a:defRPr>
            </a:pPr>
            <a:r>
              <a:t>#FFE082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49920" y="3236976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func ref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01480" y="3255264"/>
            <a:ext cx="201168" cy="192024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21520" y="3236976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4FC3F7"/>
                </a:solidFill>
                <a:latin typeface="Cascadia Code" panose="020B0609020000020004"/>
              </a:defRPr>
            </a:pPr>
            <a:r>
              <a:t>#4FC3F7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9920" y="3502152"/>
            <a:ext cx="91440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9090AB"/>
                </a:solidFill>
                <a:latin typeface="Cascadia Code" panose="020B0609020000020004"/>
              </a:defRPr>
            </a:pPr>
            <a:r>
              <a:t>comment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01480" y="3520440"/>
            <a:ext cx="201168" cy="192024"/>
          </a:xfrm>
          <a:prstGeom prst="rect">
            <a:avLst/>
          </a:prstGeom>
          <a:solidFill>
            <a:srgbClr val="6A9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21520" y="3502152"/>
            <a:ext cx="1097280" cy="228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l">
              <a:defRPr sz="1000">
                <a:solidFill>
                  <a:srgbClr val="6A9955"/>
                </a:solidFill>
                <a:latin typeface="Cascadia Code" panose="020B0609020000020004"/>
              </a:defRPr>
            </a:pPr>
            <a:r>
              <a:t>#6A9955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233545"/>
            <a:ext cx="10698480" cy="2215515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526280"/>
            <a:ext cx="10424160" cy="1840865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E0E0E0"/>
                </a:solidFill>
                <a:latin typeface="Cascadia Code" panose="020B0609020000020004"/>
              </a:defRPr>
            </a:pPr>
            <a:r>
              <a:rPr sz="1400"/>
              <a:t>  4048b0 &lt;main&gt;:</a:t>
            </a:r>
            <a:endParaRPr sz="140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latin typeface="Cascadia Code" panose="020B0609020000020004"/>
              </a:defRPr>
            </a:pP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4048b0: 55     </a:t>
            </a:r>
            <a:r>
              <a:rPr lang="en-US" sz="1400">
                <a:solidFill>
                  <a:srgbClr val="546E7A"/>
                </a:solidFill>
                <a:latin typeface="Cascadia Code" panose="020B0609020000020004"/>
              </a:rPr>
              <a:t>         </a:t>
            </a:r>
            <a:r>
              <a:rPr sz="1400">
                <a:solidFill>
                  <a:srgbClr val="E0E0E0"/>
                </a:solidFill>
                <a:latin typeface="Cascadia Code" panose="020B0609020000020004"/>
              </a:rPr>
              <a:t>push</a:t>
            </a: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 </a:t>
            </a:r>
            <a:r>
              <a:rPr sz="1400">
                <a:solidFill>
                  <a:srgbClr val="CE93D8"/>
                </a:solidFill>
                <a:latin typeface="Cascadia Code" panose="020B0609020000020004"/>
              </a:rPr>
              <a:t>%rbp</a:t>
            </a:r>
            <a:endParaRPr sz="14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latin typeface="Cascadia Code" panose="020B0609020000020004"/>
              </a:defRPr>
            </a:pP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4048b1: 48 89 e5  </a:t>
            </a:r>
            <a:r>
              <a:rPr lang="en-US" sz="1400">
                <a:solidFill>
                  <a:srgbClr val="546E7A"/>
                </a:solidFill>
                <a:latin typeface="Cascadia Code" panose="020B0609020000020004"/>
              </a:rPr>
              <a:t>      </a:t>
            </a:r>
            <a:r>
              <a:rPr sz="1400">
                <a:solidFill>
                  <a:srgbClr val="E0E0E0"/>
                </a:solidFill>
                <a:latin typeface="Cascadia Code" panose="020B0609020000020004"/>
              </a:rPr>
              <a:t>mov</a:t>
            </a: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  </a:t>
            </a:r>
            <a:r>
              <a:rPr sz="1400">
                <a:solidFill>
                  <a:srgbClr val="CE93D8"/>
                </a:solidFill>
                <a:latin typeface="Cascadia Code" panose="020B0609020000020004"/>
              </a:rPr>
              <a:t>%rsp</a:t>
            </a:r>
            <a:r>
              <a:rPr sz="1400">
                <a:solidFill>
                  <a:srgbClr val="E0E0E0"/>
                </a:solidFill>
                <a:latin typeface="Cascadia Code" panose="020B0609020000020004"/>
              </a:rPr>
              <a:t>,</a:t>
            </a:r>
            <a:r>
              <a:rPr sz="1400">
                <a:solidFill>
                  <a:srgbClr val="CE93D8"/>
                </a:solidFill>
                <a:latin typeface="Cascadia Code" panose="020B0609020000020004"/>
              </a:rPr>
              <a:t>%rbp</a:t>
            </a:r>
            <a:endParaRPr sz="14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latin typeface="Cascadia Code" panose="020B0609020000020004"/>
              </a:defRPr>
            </a:pP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4048b4: 48 83 ec 10  </a:t>
            </a:r>
            <a:r>
              <a:rPr lang="en-US" sz="1400">
                <a:solidFill>
                  <a:srgbClr val="546E7A"/>
                </a:solidFill>
                <a:latin typeface="Cascadia Code" panose="020B0609020000020004"/>
              </a:rPr>
              <a:t>   </a:t>
            </a:r>
            <a:r>
              <a:rPr sz="1400">
                <a:solidFill>
                  <a:srgbClr val="E0E0E0"/>
                </a:solidFill>
                <a:latin typeface="Cascadia Code" panose="020B0609020000020004"/>
              </a:rPr>
              <a:t>sub</a:t>
            </a: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  </a:t>
            </a:r>
            <a:r>
              <a:rPr sz="1400">
                <a:solidFill>
                  <a:srgbClr val="FFE082"/>
                </a:solidFill>
                <a:latin typeface="Cascadia Code" panose="020B0609020000020004"/>
              </a:rPr>
              <a:t>$0x10</a:t>
            </a:r>
            <a:r>
              <a:rPr sz="1400">
                <a:solidFill>
                  <a:srgbClr val="E0E0E0"/>
                </a:solidFill>
                <a:latin typeface="Cascadia Code" panose="020B0609020000020004"/>
              </a:rPr>
              <a:t>,</a:t>
            </a:r>
            <a:r>
              <a:rPr sz="1400">
                <a:solidFill>
                  <a:srgbClr val="CE93D8"/>
                </a:solidFill>
                <a:latin typeface="Cascadia Code" panose="020B0609020000020004"/>
              </a:rPr>
              <a:t>%rsp</a:t>
            </a:r>
            <a:endParaRPr sz="14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latin typeface="Cascadia Code" panose="020B0609020000020004"/>
              </a:defRPr>
            </a:pP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4048b8:</a:t>
            </a: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e8 a3 ff ff ff  </a:t>
            </a:r>
            <a:r>
              <a:rPr sz="1400">
                <a:solidFill>
                  <a:srgbClr val="81C784"/>
                </a:solidFill>
                <a:latin typeface="Cascadia Code" panose="020B0609020000020004"/>
              </a:rPr>
              <a:t>call</a:t>
            </a: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 </a:t>
            </a:r>
            <a:r>
              <a:rPr sz="1400">
                <a:solidFill>
                  <a:srgbClr val="4FC3F7"/>
                </a:solidFill>
                <a:latin typeface="Cascadia Code" panose="020B0609020000020004"/>
              </a:rPr>
              <a:t>&lt;init&gt;</a:t>
            </a:r>
            <a:endParaRPr sz="1400">
              <a:solidFill>
                <a:srgbClr val="4FC3F7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latin typeface="Cascadia Code" panose="020B0609020000020004"/>
              </a:defRPr>
            </a:pP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4048bd:</a:t>
            </a: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b8 00 00 00 00  </a:t>
            </a:r>
            <a:r>
              <a:rPr sz="1400">
                <a:solidFill>
                  <a:srgbClr val="E0E0E0"/>
                </a:solidFill>
                <a:latin typeface="Cascadia Code" panose="020B0609020000020004"/>
              </a:rPr>
              <a:t>mov</a:t>
            </a: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  </a:t>
            </a:r>
            <a:r>
              <a:rPr sz="1400">
                <a:solidFill>
                  <a:srgbClr val="FFE082"/>
                </a:solidFill>
                <a:latin typeface="Cascadia Code" panose="020B0609020000020004"/>
              </a:rPr>
              <a:t>$0x0</a:t>
            </a:r>
            <a:r>
              <a:rPr sz="1400">
                <a:solidFill>
                  <a:srgbClr val="E0E0E0"/>
                </a:solidFill>
                <a:latin typeface="Cascadia Code" panose="020B0609020000020004"/>
              </a:rPr>
              <a:t>,</a:t>
            </a:r>
            <a:r>
              <a:rPr sz="1400">
                <a:solidFill>
                  <a:srgbClr val="CE93D8"/>
                </a:solidFill>
                <a:latin typeface="Cascadia Code" panose="020B0609020000020004"/>
              </a:rPr>
              <a:t>%eax</a:t>
            </a:r>
            <a:endParaRPr sz="14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latin typeface="Cascadia Code" panose="020B0609020000020004"/>
              </a:defRPr>
            </a:pPr>
            <a:r>
              <a:rPr sz="1400">
                <a:solidFill>
                  <a:srgbClr val="546E7A"/>
                </a:solidFill>
                <a:latin typeface="Cascadia Code" panose="020B0609020000020004"/>
              </a:rPr>
              <a:t>  4048c2: c3     </a:t>
            </a:r>
            <a:r>
              <a:rPr lang="en-US" sz="1400">
                <a:solidFill>
                  <a:srgbClr val="546E7A"/>
                </a:solidFill>
                <a:latin typeface="Cascadia Code" panose="020B0609020000020004"/>
              </a:rPr>
              <a:t>         </a:t>
            </a:r>
            <a:r>
              <a:rPr sz="1400">
                <a:solidFill>
                  <a:srgbClr val="EF5350"/>
                </a:solidFill>
                <a:latin typeface="Cascadia Code" panose="020B0609020000020004"/>
              </a:rPr>
              <a:t>ret</a:t>
            </a:r>
            <a:endParaRPr sz="1400">
              <a:solidFill>
                <a:srgbClr val="EF5350"/>
              </a:solidFill>
              <a:latin typeface="Cascadia Code" panose="020B06090200000200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交互式 GDB 调试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3774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937760" cy="2194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调试生命周期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1. 用户点击 Start Debugging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2. 通过 ShellSession 启动 gdb -q &lt;binary&gt;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3. 发送 run 命令启动目标程序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4. 触发 SessionChanged -&gt; MainViewModel 连接所有面板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5. 批量应用已有断点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6. 读取 info registers pc 获取当前 PC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7. disassemble /r 获取实时反汇编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8. 高亮当前指令 -&gt; 自动展开所在函数 -&gt; 滚动定位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097280"/>
            <a:ext cx="4937760" cy="300736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188720"/>
            <a:ext cx="4572000" cy="2194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调试控制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Step Into  (stepi)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逐指令进入函数调用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Step Over  (nexti)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逐指令跳过函数调用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Continue   (continue)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继续执行至下一断点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Restart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重新运行程序并恢复所有断点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Stop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中断执行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2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Set BP (右键)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在反汇编视图中右键设置断点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303520" cy="28346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4937760" cy="20396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函数块管理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FunctionItem 模型支持折叠/展开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首次访问函数时懒加载反汇编 (lazy fetch)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已访问函数缓存于 FunctionBlocks 集合中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当前执行函数自动展开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PC 所在行黄色背景高亮 (CurrentBg 转换器)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断点行红色/橙色左边框标记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ScrollToBlock 事件驱动自动滚动定位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012055"/>
            <a:ext cx="4937760" cy="1571625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4378325"/>
            <a:ext cx="4937760" cy="2205355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511040"/>
            <a:ext cx="4663440" cy="1999615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E0E0E0"/>
                </a:solidFill>
                <a:latin typeface="Cascadia Code" panose="020B0609020000020004"/>
              </a:defRPr>
            </a:pPr>
            <a:r>
              <a:t>GDB disassemble /r 输出示例：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E0E0E0"/>
                </a:solidFill>
                <a:latin typeface="Cascadia Code" panose="020B06090200000200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latin typeface="Cascadia Code" panose="020B0609020000020004"/>
              </a:defRPr>
            </a:pP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  0x4048b0 &lt;main+0&gt;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55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	</a:t>
            </a:r>
            <a:r>
              <a:rPr sz="1000">
                <a:solidFill>
                  <a:srgbClr val="E0E0E0"/>
                </a:solidFill>
                <a:latin typeface="Cascadia Code" panose="020B0609020000020004"/>
              </a:rPr>
              <a:t>push</a:t>
            </a:r>
            <a:r>
              <a:rPr sz="1000">
                <a:solidFill>
                  <a:srgbClr val="CE93D8"/>
                </a:solidFill>
                <a:latin typeface="Cascadia Code" panose="020B0609020000020004"/>
              </a:rPr>
              <a:t>   %rbp</a:t>
            </a:r>
            <a:endParaRPr sz="10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latin typeface="Cascadia Code" panose="020B0609020000020004"/>
              </a:defRPr>
            </a:pP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  0x4048b1 &lt;main+1&gt;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48 89 e5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	</a:t>
            </a:r>
            <a:r>
              <a:rPr sz="1000">
                <a:solidFill>
                  <a:srgbClr val="E0E0E0"/>
                </a:solidFill>
                <a:latin typeface="Cascadia Code" panose="020B0609020000020004"/>
              </a:rPr>
              <a:t>mov</a:t>
            </a:r>
            <a:r>
              <a:rPr sz="1000">
                <a:solidFill>
                  <a:srgbClr val="CE93D8"/>
                </a:solidFill>
                <a:latin typeface="Cascadia Code" panose="020B0609020000020004"/>
              </a:rPr>
              <a:t>    %rsp,%rbp</a:t>
            </a:r>
            <a:endParaRPr sz="10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latin typeface="Cascadia Code" panose="020B0609020000020004"/>
              </a:defRPr>
            </a:pPr>
            <a:r>
              <a:rPr sz="1000">
                <a:solidFill>
                  <a:srgbClr val="FFE082"/>
                </a:solidFill>
                <a:latin typeface="Cascadia Code" panose="020B0609020000020004"/>
              </a:rPr>
              <a:t>=&gt; 0x4048b4 &lt;main+4&gt;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48 83 ec 10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	</a:t>
            </a:r>
            <a:r>
              <a:rPr sz="1000">
                <a:solidFill>
                  <a:srgbClr val="E0E0E0"/>
                </a:solidFill>
                <a:latin typeface="Cascadia Code" panose="020B0609020000020004"/>
              </a:rPr>
              <a:t>sub</a:t>
            </a:r>
            <a:r>
              <a:rPr sz="1000">
                <a:solidFill>
                  <a:srgbClr val="CE93D8"/>
                </a:solidFill>
                <a:latin typeface="Cascadia Code" panose="020B0609020000020004"/>
              </a:rPr>
              <a:t>    $0x10,%rsp</a:t>
            </a:r>
            <a:endParaRPr sz="10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latin typeface="Cascadia Code" panose="020B0609020000020004"/>
              </a:defRPr>
            </a:pP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  0x4048b8 &lt;main+8&gt;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e8 a3 ff ff ff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	</a:t>
            </a:r>
            <a:r>
              <a:rPr sz="1000">
                <a:solidFill>
                  <a:srgbClr val="E0E0E0"/>
                </a:solidFill>
                <a:latin typeface="Cascadia Code" panose="020B0609020000020004"/>
              </a:rPr>
              <a:t>call</a:t>
            </a:r>
            <a:r>
              <a:rPr sz="1000">
                <a:solidFill>
                  <a:srgbClr val="4FC3F7"/>
                </a:solidFill>
                <a:latin typeface="Cascadia Code" panose="020B0609020000020004"/>
              </a:rPr>
              <a:t>  &lt;init&gt;</a:t>
            </a:r>
            <a:endParaRPr sz="1000">
              <a:solidFill>
                <a:srgbClr val="4FC3F7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latin typeface="Cascadia Code" panose="020B0609020000020004"/>
              </a:defRPr>
            </a:pP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  0x4048bd &lt;main+13&gt;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b8 00 00 00 00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	</a:t>
            </a:r>
            <a:r>
              <a:rPr sz="1000">
                <a:solidFill>
                  <a:srgbClr val="E0E0E0"/>
                </a:solidFill>
                <a:latin typeface="Cascadia Code" panose="020B0609020000020004"/>
              </a:rPr>
              <a:t>mov</a:t>
            </a:r>
            <a:r>
              <a:rPr sz="1000">
                <a:solidFill>
                  <a:srgbClr val="CE93D8"/>
                </a:solidFill>
                <a:latin typeface="Cascadia Code" panose="020B0609020000020004"/>
              </a:rPr>
              <a:t>   $0x0,%eax</a:t>
            </a:r>
            <a:endParaRPr sz="1000">
              <a:solidFill>
                <a:srgbClr val="CE93D8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latin typeface="Cascadia Code" panose="020B0609020000020004"/>
              </a:defRPr>
            </a:pP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  0x4048c2 &lt;main+18&gt;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 c3</a:t>
            </a:r>
            <a:r>
              <a:rPr sz="1000">
                <a:solidFill>
                  <a:srgbClr val="546E7A"/>
                </a:solidFill>
                <a:latin typeface="Cascadia Code" panose="020B0609020000020004"/>
              </a:rPr>
              <a:t>	</a:t>
            </a:r>
            <a:r>
              <a:rPr sz="1000">
                <a:solidFill>
                  <a:srgbClr val="E0E0E0"/>
                </a:solidFill>
                <a:latin typeface="Cascadia Code" panose="020B0609020000020004"/>
              </a:rPr>
              <a:t>ret</a:t>
            </a:r>
            <a:endParaRPr sz="1000">
              <a:solidFill>
                <a:srgbClr val="E0E0E0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E0E0E0"/>
                </a:solidFill>
                <a:latin typeface="Cascadia Code" panose="020B06090200000200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000">
                <a:solidFill>
                  <a:srgbClr val="E0E0E0"/>
                </a:solidFill>
                <a:latin typeface="Cascadia Code" panose="020B0609020000020004"/>
              </a:defRPr>
            </a:pPr>
            <a:r>
              <a:t>=&gt; 黄色 = 当前 PC 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SSH 远程通信设计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760720" cy="32918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394960" cy="3108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ShellSession - 核心抽象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设计问题：GDB 是有状态交互式程序，无法用简单的 SSH 单次命令执行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1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ShellSession 解决方案：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封装 SSH.NET ShellStream -&gt; xterm-256color 伪终端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后台读取循环：持续从 SSH 流读取输出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ANSI 转义序列过滤：[GeneratedRegex] 编译时生成正则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CaptureOutputAsync() 统一命令/响应模式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  发送命令 -&gt; 累积输出 -&gt; 停止条件匹配 -&gt; 返回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停止条件：GDB 提示符 | 自定义谓词 | 8000 字符 | 800ms 超时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SemaphoreSlim 写锁：序列化命令发送，防止交错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OnOutput 事件：实时输出通知（Shell 面板渲染用）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097280"/>
            <a:ext cx="4480560" cy="32918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114800" cy="3108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三种访问模式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ExecuteCommandAsync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一次性命令执行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file / readelf / objdump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SshClient.CreateCommand()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30 秒超时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E0E0E0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CreateShellSessionAsync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持久化 Shell 流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通用 SSH 终端面板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命令历史 / 实时交互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E0E0E0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100"/>
              </a:spcAft>
              <a:defRPr sz="1300" b="1">
                <a:solidFill>
                  <a:srgbClr val="81C784"/>
                </a:solidFill>
                <a:latin typeface="Cascadia Code" panose="020B0609020000020004"/>
              </a:defRPr>
            </a:pPr>
            <a:r>
              <a:t>▸ GDB Shell Reuse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复用已有 ShellSession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GDB Shell 面板 (调试时自动创建)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   共享 GDB 进程上下文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E0E0E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92024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736592"/>
            <a:ext cx="10424159" cy="1773936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0E0E0"/>
                </a:solidFill>
                <a:latin typeface="Cascadia Code" panose="020B0609020000020004"/>
              </a:defRPr>
            </a:pPr>
            <a:r>
              <a:t>// CaptureOutputAsync - 所有面板的统一命令接口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0E0E0"/>
                </a:solidFill>
                <a:latin typeface="Cascadia Code" panose="020B06090200000200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latin typeface="Cascadia Code" panose="020B0609020000020004"/>
              </a:defRPr>
            </a:pP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public async </a:t>
            </a:r>
            <a:r>
              <a:rPr sz="1100">
                <a:solidFill>
                  <a:srgbClr val="569CD6"/>
                </a:solidFill>
                <a:latin typeface="Cascadia Code" panose="020B0609020000020004"/>
              </a:rPr>
              <a:t>Task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&lt;</a:t>
            </a:r>
            <a:r>
              <a:rPr sz="1100">
                <a:solidFill>
                  <a:srgbClr val="569CD6"/>
                </a:solidFill>
                <a:latin typeface="Cascadia Code" panose="020B0609020000020004"/>
              </a:rPr>
              <a:t>string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&gt; </a:t>
            </a:r>
            <a:r>
              <a:rPr sz="1100">
                <a:solidFill>
                  <a:srgbClr val="FFE082"/>
                </a:solidFill>
                <a:latin typeface="Cascadia Code" panose="020B0609020000020004"/>
              </a:rPr>
              <a:t>CaptureOutputAsync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(</a:t>
            </a:r>
            <a:endParaRPr sz="1100">
              <a:solidFill>
                <a:srgbClr val="E0E0E0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latin typeface="Cascadia Code" panose="020B0609020000020004"/>
              </a:defRPr>
            </a:pP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    </a:t>
            </a:r>
            <a:r>
              <a:rPr sz="1100">
                <a:solidFill>
                  <a:srgbClr val="569CD6"/>
                </a:solidFill>
                <a:latin typeface="Cascadia Code" panose="020B0609020000020004"/>
              </a:rPr>
              <a:t>string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 command,</a:t>
            </a:r>
            <a:endParaRPr sz="1100">
              <a:solidFill>
                <a:srgbClr val="E0E0E0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latin typeface="Cascadia Code" panose="020B0609020000020004"/>
              </a:defRPr>
            </a:pP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    </a:t>
            </a:r>
            <a:r>
              <a:rPr sz="1100">
                <a:solidFill>
                  <a:srgbClr val="569CD6"/>
                </a:solidFill>
                <a:latin typeface="Cascadia Code" panose="020B0609020000020004"/>
              </a:rPr>
              <a:t>int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 timeoutMs = 800,</a:t>
            </a:r>
            <a:endParaRPr sz="1100">
              <a:solidFill>
                <a:srgbClr val="E0E0E0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latin typeface="Cascadia Code" panose="020B0609020000020004"/>
              </a:defRPr>
            </a:pP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    </a:t>
            </a:r>
            <a:r>
              <a:rPr sz="1100">
                <a:solidFill>
                  <a:srgbClr val="569CD6"/>
                </a:solidFill>
                <a:latin typeface="Cascadia Code" panose="020B0609020000020004"/>
              </a:rPr>
              <a:t>Func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&lt;string, bool&gt; stopPredicate = null)</a:t>
            </a:r>
            <a:endParaRPr sz="1100">
              <a:solidFill>
                <a:srgbClr val="E0E0E0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0E0E0"/>
                </a:solidFill>
                <a:latin typeface="Cascadia Code" panose="020B06090200000200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latin typeface="Cascadia Code" panose="020B0609020000020004"/>
              </a:defRPr>
            </a:pP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var output = await session.CaptureOutputAsync(</a:t>
            </a:r>
            <a:endParaRPr sz="1100">
              <a:solidFill>
                <a:srgbClr val="E0E0E0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latin typeface="Cascadia Code" panose="020B0609020000020004"/>
              </a:defRPr>
            </a:pP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    </a:t>
            </a:r>
            <a:r>
              <a:rPr sz="1100">
                <a:solidFill>
                  <a:srgbClr val="D69D85"/>
                </a:solidFill>
                <a:latin typeface="Cascadia Code" panose="020B0609020000020004"/>
              </a:rPr>
              <a:t>"info breakpoints"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,</a:t>
            </a:r>
            <a:endParaRPr sz="1100">
              <a:solidFill>
                <a:srgbClr val="E0E0E0"/>
              </a:solidFill>
              <a:latin typeface="Cascadia Code" panose="020B0609020000020004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latin typeface="Cascadia Code" panose="020B0609020000020004"/>
              </a:defRPr>
            </a:pP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    stopPredicate: s =&gt; s.Contains(</a:t>
            </a:r>
            <a:r>
              <a:rPr sz="1100">
                <a:solidFill>
                  <a:srgbClr val="D69D85"/>
                </a:solidFill>
                <a:latin typeface="Cascadia Code" panose="020B0609020000020004"/>
              </a:rPr>
              <a:t>"No breakpoints"</a:t>
            </a:r>
            <a:r>
              <a:rPr sz="1100">
                <a:solidFill>
                  <a:srgbClr val="E0E0E0"/>
                </a:solidFill>
                <a:latin typeface="Cascadia Code" panose="020B0609020000020004"/>
              </a:rPr>
              <a:t>));</a:t>
            </a:r>
            <a:endParaRPr sz="1100">
              <a:solidFill>
                <a:srgbClr val="E0E0E0"/>
              </a:solidFill>
              <a:latin typeface="Cascadia Code" panose="020B06090200000200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工程亮点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440680" cy="269748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51663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MVVM 源码生成器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166360" cy="7213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00">
                <a:solidFill>
                  <a:srgbClr val="9090AB"/>
                </a:solidFill>
                <a:latin typeface="微软雅黑" panose="020B0503020204020204" charset="-122"/>
              </a:rPr>
              <a:t>• [ObservableProperty] 自动生成属性变更通知代码</a:t>
            </a:r>
            <a:endParaRPr sz="1000">
              <a:solidFill>
                <a:srgbClr val="9090AB"/>
              </a:solidFill>
              <a:latin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[RelayCommand] 自动生成 ICommand 实现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[GeneratedRegex] 编译时生成 ANSI 过滤正则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消除大量样板代码，提升可维护性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423160"/>
            <a:ext cx="5166360" cy="118872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983480" cy="109728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partial class ConnectPageViewModel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[ObservableProperty]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private string _host = "";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// auto-gen: public string Host { get; set; 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//           + PropertyChanged 通知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59" y="1051560"/>
            <a:ext cx="5440680" cy="269748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143000"/>
            <a:ext cx="51663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1C784"/>
                </a:solidFill>
                <a:latin typeface="微软雅黑" panose="020B0503020204020204" charset="-122"/>
              </a:defRPr>
            </a:pPr>
            <a:r>
              <a:t>事件驱动面板协调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5166360" cy="746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FontTx/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MainViewModel 作为中心编排器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7 个面板通过事件解耦通信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SessionChanged 一键连接所有 GDB 依赖面板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断点变更自动刷新两个反汇编视图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423160"/>
            <a:ext cx="5166360" cy="118872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2468880"/>
            <a:ext cx="4983480" cy="109728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// GDB session -&gt; all dependent panels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gdbDisasm.SessionChanged += (s, e) =&gt;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breakpointPanel.SetSession(e.Session);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registersPanel.SetSession(e.Session);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stackPanel.SetSession(e.Session);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AddOrRemoveGdbShellTab(e);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};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440680" cy="269748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59"/>
            <a:ext cx="51663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E93D8"/>
                </a:solidFill>
                <a:latin typeface="微软雅黑" panose="020B0503020204020204" charset="-122"/>
              </a:defRPr>
            </a:pPr>
            <a:r>
              <a:t>Token 导航系统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5166360" cy="746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FontTx/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可点击的 Token -&gt; NavigateTo 属性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函数引用 &lt;func_name&gt; 点击直接跳转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跨面板联动：断点面板 -&gt; 反汇编视图标记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自定义 IValueConverter 处理光标/颜色/边框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303520"/>
            <a:ext cx="5166360" cy="118872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4983480" cy="109728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// Token 记录类型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record Token(string Text, string Color,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        string? NavigateTo);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// 渲染: StackPanel 水平排列 TextBlock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// 点击: NavigateToFunction 事件 -&gt; 滚动定位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59" y="3931920"/>
            <a:ext cx="5440680" cy="269748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023359"/>
            <a:ext cx="51663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04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B74D"/>
                </a:solidFill>
                <a:latin typeface="微软雅黑" panose="020B0503020204020204" charset="-122"/>
              </a:defRPr>
            </a:pPr>
            <a:r>
              <a:t>渐进增强策略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5166360" cy="746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buClrTx/>
              <a:buSzTx/>
              <a:buFontTx/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checksec 不可用 -&gt; 手动解析 readelf -lW/-sW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pwndbg 不可用 -&gt; 回退到原生 GDB x/gx 命令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StackHighlighter 自动检测两种输出格式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0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• 双模式 ShellPanel：SSH 初始化 vs GDB 复用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5303520"/>
            <a:ext cx="5166360" cy="1188720"/>
          </a:xfrm>
          <a:prstGeom prst="round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5349240"/>
            <a:ext cx="4983480" cy="109728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// StackHighlighter 双格式支持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if (line.Contains('|') || line.Contains('&lt;'))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return ParsePwndbg(line); // pwndbg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else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900">
                <a:solidFill>
                  <a:srgbClr val="9090AB"/>
                </a:solidFill>
                <a:latin typeface="Cascadia Code" panose="020B0609020000020004"/>
              </a:defRPr>
            </a:pPr>
            <a:r>
              <a:t>    return ParseGdbHex(line);  // x/gx fallback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10 /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" grpId="0"/>
      <p:bldP spid="7" grpId="0" animBg="1"/>
      <p:bldP spid="8" grpId="1"/>
      <p:bldP spid="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项目总结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347472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4937760" cy="322453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1C784"/>
                </a:solidFill>
                <a:latin typeface="微软雅黑" panose="020B0503020204020204" charset="-122"/>
              </a:defRPr>
            </a:pPr>
            <a:r>
              <a:t>已完成功能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SSH 远程连接 (密码 + 私钥认证)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ELF 文件分析 (file / readelf / checksec / 手动回退)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静态反汇编 (objdump 解析 + 函数折叠)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汇编语法高亮 (8 种 Token 颜色，可点击导航)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交互式 GDB 调试 (Step In/Over, Continue, Restart, Stop)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断点管理 (函数名/地址添加，启用/禁用/删除)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断点可视化标记 (反汇编视图红色/橙色左边框)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寄存器面板 (info registers 解析)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调用栈面板 (bt + 可展开帧 + 栈内存转储)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栈内存语法高亮 (pwndbg + GDB x/gx 双格式)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交互式终端 (SSH Shell + GDB Shell，命令历史)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事件驱动面板协调 (7 面板 + 7 种事件)</a:t>
            </a:r>
            <a:endParaRPr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rPr>
                <a:latin typeface="+mn-lt"/>
                <a:cs typeface="+mn-lt"/>
              </a:rPr>
              <a:t>✓ 跨平台支持 (Windows / Linux / macOS)</a:t>
            </a:r>
            <a:endParaRPr>
              <a:latin typeface="+mn-lt"/>
              <a:cs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92240" y="1097280"/>
            <a:ext cx="4937760" cy="347472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188720"/>
            <a:ext cx="4572000" cy="278320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项目统计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E0E0E0"/>
                </a:solidFill>
                <a:latin typeface="Cascadia Code" panose="020B0609020000020004"/>
              </a:defRPr>
            </a:pPr>
            <a:r>
              <a:t>  C# 源文件：约 30 个     代码行数：约 4,000 行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E0E0E0"/>
                </a:solidFill>
                <a:latin typeface="Cascadia Code" panose="020B0609020000020004"/>
              </a:defRPr>
            </a:pPr>
            <a:r>
              <a:t>  .NET 项目：2 个     </a:t>
            </a:r>
            <a:r>
              <a:rPr lang="en-US"/>
              <a:t>    </a:t>
            </a:r>
            <a:r>
              <a:t>Views：10 个 .axaml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E0E0E0"/>
                </a:solidFill>
                <a:latin typeface="Cascadia Code" panose="020B0609020000020004"/>
              </a:defRPr>
            </a:pPr>
            <a:r>
              <a:t>  ViewModels：11 个     </a:t>
            </a:r>
            <a:r>
              <a:rPr lang="en-US"/>
              <a:t> </a:t>
            </a:r>
            <a:r>
              <a:t>Models + Services：4 个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E0E0E0"/>
                </a:solidFill>
                <a:latin typeface="Cascadia Code" panose="020B0609020000020004"/>
              </a:defRPr>
            </a:pPr>
            <a:r>
              <a:t>  Highlighters：2 个     NuGet 直接依赖：</a:t>
            </a:r>
            <a:r>
              <a:rPr lang="en-US"/>
              <a:t>7</a:t>
            </a:r>
            <a:r>
              <a:t> 个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E0E0E0"/>
                </a:solidFill>
                <a:latin typeface="Cascadia Code" panose="020B0609020000020004"/>
              </a:defRPr>
            </a:pPr>
            <a:r>
              <a:t>  Git 提交：约 75 次     </a:t>
            </a:r>
            <a:r>
              <a:rPr lang="en-US"/>
              <a:t> </a:t>
            </a:r>
            <a:r>
              <a:t>测试覆盖：暂无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E0E0E0"/>
                </a:solidFill>
                <a:latin typeface="微软雅黑" panose="020B0503020204020204" charset="-122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架构：MVVM + 分层架构 + 事件驱动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技术：C# 12 / .NET 10 / Avalonia UI 12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CE93D8"/>
                </a:solidFill>
                <a:latin typeface="微软雅黑" panose="020B0503020204020204" charset="-122"/>
              </a:defRPr>
            </a:pPr>
            <a:r>
              <a:t>许可：GNU General Public License v3.0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5303520" cy="18288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4937760" cy="1778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技术收获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• MVVM 架构设计与 CommunityToolkit.Mvvm 源码生成器的深度使用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• Avalonia UI 跨平台桌面应用开发（编译绑定、DataTemplate）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• SSH.NET 异步封装与 Shell 流的状态管理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• 编译时正则生成 ([GeneratedRegex]) 提升性能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• 事件驱动架构解耦复杂面板交互</a:t>
            </a:r>
            <a:endParaRPr sz="1400">
              <a:latin typeface="+mn-lt"/>
              <a:cs typeface="+mn-l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92240" y="4800600"/>
            <a:ext cx="4937760" cy="182880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892040"/>
            <a:ext cx="4572000" cy="156273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后续方向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→ 编写单元测试覆盖核心逻辑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→ 支持 GDB/MI 替代 Shell 解析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→ 添加</a:t>
            </a:r>
            <a:r>
              <a:rPr lang="zh-CN" sz="1400">
                <a:latin typeface="+mn-lt"/>
                <a:cs typeface="+mn-lt"/>
              </a:rPr>
              <a:t>更多功能</a:t>
            </a:r>
            <a:r>
              <a:rPr sz="1400">
                <a:latin typeface="+mn-lt"/>
                <a:cs typeface="+mn-lt"/>
              </a:rPr>
              <a:t>面板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→ 本地调试模式 (无需 SSH)</a:t>
            </a:r>
            <a:endParaRPr sz="1400">
              <a:latin typeface="+mn-lt"/>
              <a:cs typeface="+mn-lt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rPr sz="1400">
                <a:latin typeface="+mn-lt"/>
                <a:cs typeface="+mn-lt"/>
              </a:rPr>
              <a:t>→ 插件系统支持自定义面板</a:t>
            </a:r>
            <a:endParaRPr sz="1400">
              <a:latin typeface="+mn-lt"/>
              <a:cs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Questions &amp;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566160"/>
            <a:ext cx="5760720" cy="2035810"/>
          </a:xfrm>
          <a:prstGeom prst="round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3657600"/>
            <a:ext cx="5394960" cy="1934845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4FC3F7"/>
                </a:solidFill>
                <a:latin typeface="微软雅黑" panose="020B0503020204020204" charset="-122"/>
              </a:defRPr>
            </a:pPr>
            <a:r>
              <a:t>项目信息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700" b="1">
                <a:solidFill>
                  <a:srgbClr val="E0E0E0"/>
                </a:solidFill>
                <a:latin typeface="微软雅黑" panose="020B0503020204020204" charset="-122"/>
              </a:defRPr>
            </a:pPr>
            <a:r>
              <a:t>ElfLens v0.1.0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软件构造原理 (C#) · 课程期末项目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CE93D8"/>
                </a:solidFill>
                <a:latin typeface="微软雅黑" panose="020B0503020204020204" charset="-122"/>
              </a:defRPr>
            </a:pPr>
            <a:r>
              <a:t>开源协议：GNU General Public License v3.0</a:t>
            </a:r>
          </a:p>
          <a:p>
            <a:pPr algn="ctr">
              <a:spcBef>
                <a:spcPts val="0"/>
              </a:spcBef>
              <a:spcAft>
                <a:spcPts val="800"/>
              </a:spcAft>
              <a:defRPr sz="1300" b="0">
                <a:solidFill>
                  <a:srgbClr val="81C784"/>
                </a:solidFill>
                <a:latin typeface="微软雅黑" panose="020B0503020204020204" charset="-122"/>
              </a:defRPr>
            </a:pPr>
            <a:r>
              <a:t>Author: illustager &lt;illustager@outlook.com&gt;</a:t>
            </a:r>
          </a:p>
          <a:p>
            <a:pPr algn="ctr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Tech:  </a:t>
            </a:r>
            <a:r>
              <a:rPr lang="en-US" altLang="zh-CN"/>
              <a:t>.NET 10 + Avalonia UI + CommunityToolkit.Mvvm + SSH.NET</a:t>
            </a:r>
            <a:endParaRPr lang="en-US" altLang="zh-CN"/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097280" cy="36576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090AB"/>
                </a:solidFill>
                <a:latin typeface="微软雅黑" panose="020B0503020204020204" charset="-122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08000000000004,&quot;left&quot;:72,&quot;top&quot;:151.2,&quot;width&quot;:367.2}"/>
</p:tagLst>
</file>

<file path=ppt/tags/tag2.xml><?xml version="1.0" encoding="utf-8"?>
<p:tagLst xmlns:p="http://schemas.openxmlformats.org/presentationml/2006/main">
  <p:tag name="KSO_WM_DIAGRAM_VIRTUALLY_FRAME" val="{&quot;height&quot;:262.08000000000004,&quot;left&quot;:72,&quot;top&quot;:151.2,&quot;width&quot;:367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7379</Words>
  <Application>WPS 演示</Application>
  <PresentationFormat>On-screen Show (4:3)</PresentationFormat>
  <Paragraphs>506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Cascadia Code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杨东霖</cp:lastModifiedBy>
  <cp:revision>36</cp:revision>
  <dcterms:created xsi:type="dcterms:W3CDTF">2013-01-27T09:14:00Z</dcterms:created>
  <dcterms:modified xsi:type="dcterms:W3CDTF">2026-06-18T09:17:56Z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FE721BCE5E19433981720BA537213513_12</vt:lpwstr>
  </property>
  <property fmtid="{D5CDD505-2E9C-101B-9397-08002B2CF9AE}" pid="3" name="KSOProductBuildVer">
    <vt:lpwstr>2052-12.1.0.24657</vt:lpwstr>
  </property>
</Properties>
</file>